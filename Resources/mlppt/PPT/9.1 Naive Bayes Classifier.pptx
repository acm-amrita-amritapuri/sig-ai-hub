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61" r:id="rId2"/>
    <p:sldId id="263" r:id="rId3"/>
    <p:sldId id="264" r:id="rId4"/>
    <p:sldId id="257" r:id="rId5"/>
    <p:sldId id="258" r:id="rId6"/>
    <p:sldId id="435" r:id="rId7"/>
    <p:sldId id="385" r:id="rId8"/>
    <p:sldId id="436" r:id="rId9"/>
    <p:sldId id="262" r:id="rId10"/>
    <p:sldId id="390" r:id="rId11"/>
    <p:sldId id="391" r:id="rId12"/>
    <p:sldId id="438" r:id="rId13"/>
    <p:sldId id="3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3T05:44:20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3T05:48:44.227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46B02-F0BA-4394-9500-A969C8BD79D0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1C1D3-7757-4BCC-B476-9D578282C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915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137256"/>
            <a:ext cx="11209376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348662"/>
            <a:ext cx="11209376" cy="464000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9" y="6369932"/>
            <a:ext cx="12218977" cy="5210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D41DD4-A5E8-4552-814D-0D80AF0F22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134" y="6490361"/>
            <a:ext cx="1781941" cy="31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17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903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4C414-CEA1-4751-B4F1-497A70F6A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70B34C-6ACD-4D78-BC86-B0BF5E831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621FA-F2A4-45BB-A75D-8B6A2538F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5BE85-2FA0-4E61-A93E-F7A231CCA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87E0C-F01C-4E74-981E-86D131C5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92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E2C98-9238-40F1-873D-CE546ACA4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B5F29-0097-4EA5-A833-898E65FFE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F5B3D-5C64-42B0-9AEF-47C1D3AF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E19A8-A5A0-4F64-8011-DB500625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63E31-71BE-4274-861C-3D7F7A8D8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34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90" b="0" i="0">
                <a:solidFill>
                  <a:srgbClr val="00386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33766" y="2232845"/>
            <a:ext cx="5219972" cy="2782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9" b="1" i="0">
                <a:solidFill>
                  <a:srgbClr val="002A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84" b="1" i="0">
                <a:solidFill>
                  <a:srgbClr val="00386C"/>
                </a:solidFill>
                <a:latin typeface="Arial"/>
                <a:cs typeface="Arial"/>
              </a:defRPr>
            </a:lvl1pPr>
          </a:lstStyle>
          <a:p>
            <a:pPr marL="10860"/>
            <a:endParaRPr lang="en-IN" b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99" b="0" i="0">
                <a:solidFill>
                  <a:srgbClr val="00386C"/>
                </a:solidFill>
                <a:latin typeface="Arial"/>
                <a:cs typeface="Arial"/>
              </a:defRPr>
            </a:lvl1pPr>
          </a:lstStyle>
          <a:p>
            <a:pPr marL="21720"/>
            <a:fld id="{81D60167-4931-47E6-BA6A-407CBD079E47}" type="slidenum">
              <a:rPr lang="en-IN" spc="-4" smtClean="0"/>
              <a:pPr marL="21720"/>
              <a:t>‹#›</a:t>
            </a:fld>
            <a:endParaRPr lang="en-IN" spc="-4"/>
          </a:p>
        </p:txBody>
      </p:sp>
    </p:spTree>
    <p:extLst>
      <p:ext uri="{BB962C8B-B14F-4D97-AF65-F5344CB8AC3E}">
        <p14:creationId xmlns:p14="http://schemas.microsoft.com/office/powerpoint/2010/main" val="136773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84" b="1" i="0">
                <a:solidFill>
                  <a:srgbClr val="00386C"/>
                </a:solidFill>
                <a:latin typeface="Arial"/>
                <a:cs typeface="Arial"/>
              </a:defRPr>
            </a:lvl1pPr>
          </a:lstStyle>
          <a:p>
            <a:pPr marL="10860"/>
            <a:endParaRPr lang="en-IN" b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99" b="0" i="0">
                <a:solidFill>
                  <a:srgbClr val="00386C"/>
                </a:solidFill>
                <a:latin typeface="Arial"/>
                <a:cs typeface="Arial"/>
              </a:defRPr>
            </a:lvl1pPr>
          </a:lstStyle>
          <a:p>
            <a:pPr marL="21720"/>
            <a:fld id="{81D60167-4931-47E6-BA6A-407CBD079E47}" type="slidenum">
              <a:rPr lang="en-IN" spc="-4" smtClean="0"/>
              <a:pPr marL="21720"/>
              <a:t>‹#›</a:t>
            </a:fld>
            <a:endParaRPr lang="en-IN" spc="-4"/>
          </a:p>
        </p:txBody>
      </p:sp>
    </p:spTree>
    <p:extLst>
      <p:ext uri="{BB962C8B-B14F-4D97-AF65-F5344CB8AC3E}">
        <p14:creationId xmlns:p14="http://schemas.microsoft.com/office/powerpoint/2010/main" val="383398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837" y="1235990"/>
            <a:ext cx="3660496" cy="455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92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90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95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0910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91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4512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5484" y="1143000"/>
            <a:ext cx="5444067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5484" y="3810000"/>
            <a:ext cx="5444067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33180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A905D-8268-48C1-8848-79EEFBA47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F04B8-8C0F-4FB0-BC4D-C08F2A564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9D715F-EB40-4E19-B6BC-D80AC26B1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B516E-D05C-4E1D-A17D-E8EFC4EE4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B0320F-C5B0-4EBA-942F-F26FA6E295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0474DD-8A0C-41E1-AE68-63EFB0028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4223-D21C-4D27-AB46-421825D83E38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3418DB-003D-4326-B101-C76E765EE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2DA07-C9C3-4C2B-BDE4-FF313520E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2723C-2DE3-4F83-9173-C01FCB3667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884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18248-39AE-B24D-B571-E8695ACF8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09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yticsvidhya.com/wp-content/uploads/2015/09/Bayes_rule-300x172.png" TargetMode="External"/><Relationship Id="rId7" Type="http://schemas.openxmlformats.org/officeDocument/2006/relationships/image" Target="../media/image1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7025E-4863-6F49-AD01-8A5B65B0890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350">
                <a:solidFill>
                  <a:prstClr val="white"/>
                </a:solidFill>
                <a:latin typeface="Calibri" panose="020F0502020204030204"/>
              </a:rPr>
              <a:t> 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0288CD4-7B52-C244-BAD4-BFF7D9DC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099" y="2667001"/>
            <a:ext cx="3443174" cy="110489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A58083-EF1A-427F-9030-DC289843A2BF}"/>
              </a:ext>
            </a:extLst>
          </p:cNvPr>
          <p:cNvCxnSpPr>
            <a:cxnSpLocks/>
          </p:cNvCxnSpPr>
          <p:nvPr/>
        </p:nvCxnSpPr>
        <p:spPr>
          <a:xfrm>
            <a:off x="6290673" y="2401045"/>
            <a:ext cx="0" cy="163681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807A921-4A34-4052-800D-82EA711F2427}"/>
              </a:ext>
            </a:extLst>
          </p:cNvPr>
          <p:cNvSpPr txBox="1"/>
          <p:nvPr/>
        </p:nvSpPr>
        <p:spPr>
          <a:xfrm>
            <a:off x="3281185" y="4241643"/>
            <a:ext cx="8029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800" b="1" dirty="0">
                <a:solidFill>
                  <a:prstClr val="white"/>
                </a:solidFill>
                <a:latin typeface="Georgia" panose="02040502050405020303" pitchFamily="18" charset="0"/>
              </a:rPr>
              <a:t>Naïve Bayes Classifier</a:t>
            </a:r>
          </a:p>
        </p:txBody>
      </p:sp>
    </p:spTree>
    <p:extLst>
      <p:ext uri="{BB962C8B-B14F-4D97-AF65-F5344CB8AC3E}">
        <p14:creationId xmlns:p14="http://schemas.microsoft.com/office/powerpoint/2010/main" val="300592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EB197A-DA83-4B58-811B-CFF03332A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1499" y="1137256"/>
                <a:ext cx="7277855" cy="4908082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400" dirty="0">
                    <a:solidFill>
                      <a:prstClr val="black"/>
                    </a:solidFill>
                  </a:rPr>
                  <a:t>Given a dataset X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,…..,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400" dirty="0">
                    <a:solidFill>
                      <a:srgbClr val="A50021"/>
                    </a:solidFill>
                  </a:rPr>
                  <a:t> </a:t>
                </a:r>
                <a:r>
                  <a:rPr lang="en-IN" sz="2400" dirty="0">
                    <a:solidFill>
                      <a:schemeClr val="tx1"/>
                    </a:solidFill>
                  </a:rPr>
                  <a:t>a set of classes C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,…..,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400" dirty="0">
                    <a:solidFill>
                      <a:schemeClr val="tx1"/>
                    </a:solidFill>
                  </a:rPr>
                  <a:t>, the </a:t>
                </a:r>
                <a:r>
                  <a:rPr lang="en-IN" sz="2400" dirty="0">
                    <a:solidFill>
                      <a:srgbClr val="FF0000"/>
                    </a:solidFill>
                  </a:rPr>
                  <a:t>classification problem </a:t>
                </a:r>
                <a:r>
                  <a:rPr lang="en-IN" sz="2400" dirty="0">
                    <a:solidFill>
                      <a:schemeClr val="tx1"/>
                    </a:solidFill>
                  </a:rPr>
                  <a:t>is to define a mapping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r>
                      <a:rPr lang="en-I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I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IN" sz="2400" dirty="0">
                    <a:solidFill>
                      <a:schemeClr val="tx1"/>
                    </a:solidFill>
                  </a:rPr>
                  <a:t>,  Where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400" dirty="0">
                    <a:solidFill>
                      <a:schemeClr val="tx1"/>
                    </a:solidFill>
                  </a:rPr>
                  <a:t> is assigned to one class.</a:t>
                </a:r>
              </a:p>
              <a:p>
                <a:pPr algn="just"/>
                <a:r>
                  <a:rPr lang="en-GB" sz="2400" dirty="0"/>
                  <a:t>Naïve Bayes algorithm is a supervised learning algorithm, which is based on </a:t>
                </a:r>
                <a:r>
                  <a:rPr lang="en-GB" sz="2400" b="1" dirty="0"/>
                  <a:t>Bayes theorem</a:t>
                </a:r>
                <a:r>
                  <a:rPr lang="en-GB" sz="2400" dirty="0"/>
                  <a:t> and used for solving classification problems</a:t>
                </a:r>
              </a:p>
              <a:p>
                <a:pPr algn="just"/>
                <a:r>
                  <a:rPr lang="en-GB" sz="2400" dirty="0"/>
                  <a:t>Probabilistic Approach to Learning. Instead of learning F: X → C, learn P(C|X). </a:t>
                </a:r>
              </a:p>
              <a:p>
                <a:pPr algn="just"/>
                <a:r>
                  <a:rPr lang="en-GB" sz="2400" dirty="0"/>
                  <a:t>Can design algorithms that learn functions with uncertain outcomes </a:t>
                </a:r>
              </a:p>
              <a:p>
                <a:pPr algn="just"/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EB197A-DA83-4B58-811B-CFF03332A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1499" y="1137256"/>
                <a:ext cx="7277855" cy="4908082"/>
              </a:xfrm>
              <a:blipFill>
                <a:blip r:embed="rId2"/>
                <a:stretch>
                  <a:fillRect l="-1173" t="-1739" r="-1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28030F0-B252-485B-9C63-9745092C4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Naïve Bayes Classifier</a:t>
            </a:r>
            <a:br>
              <a:rPr lang="en-GB" dirty="0">
                <a:solidFill>
                  <a:srgbClr val="FF0000"/>
                </a:solidFill>
              </a:rPr>
            </a:b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F62AFEB-E762-4DC5-9550-DCD710AFE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943" y="2644283"/>
            <a:ext cx="3985841" cy="2572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2129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1C477-FE52-4788-8BAC-B9267E7C0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Face Recognition</a:t>
            </a:r>
          </a:p>
          <a:p>
            <a:r>
              <a:rPr lang="en-GB" dirty="0"/>
              <a:t>Weather Prediction </a:t>
            </a:r>
          </a:p>
          <a:p>
            <a:r>
              <a:rPr lang="en-GB" dirty="0"/>
              <a:t>Medical Diagnosis </a:t>
            </a:r>
          </a:p>
          <a:p>
            <a:r>
              <a:rPr lang="en-GB" dirty="0"/>
              <a:t>News Classification 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FD6F90-B194-4A88-B00D-0934B24D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Applications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760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EAE4E1-1908-44B8-B324-E926CB558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24" y="635717"/>
            <a:ext cx="11627243" cy="54669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6297639-110D-4967-887E-E543111D5665}"/>
              </a:ext>
            </a:extLst>
          </p:cNvPr>
          <p:cNvSpPr/>
          <p:nvPr/>
        </p:nvSpPr>
        <p:spPr>
          <a:xfrm>
            <a:off x="581477" y="6310079"/>
            <a:ext cx="40041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S</a:t>
            </a:r>
            <a:r>
              <a:rPr lang="en-GB" dirty="0" err="1"/>
              <a:t>lides</a:t>
            </a:r>
            <a:r>
              <a:rPr lang="en-GB" dirty="0"/>
              <a:t> taken from Josh </a:t>
            </a:r>
            <a:r>
              <a:rPr lang="en-GB" dirty="0" err="1"/>
              <a:t>Starmer</a:t>
            </a:r>
            <a:r>
              <a:rPr lang="en-GB" dirty="0"/>
              <a:t>, </a:t>
            </a:r>
            <a:r>
              <a:rPr lang="en-GB" dirty="0" err="1"/>
              <a:t>statquest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0320AF9-85AA-4480-8E14-7FE0ADB5DC39}"/>
                  </a:ext>
                </a:extLst>
              </p14:cNvPr>
              <p14:cNvContentPartPr/>
              <p14:nvPr/>
            </p14:nvContentPartPr>
            <p14:xfrm>
              <a:off x="2756421" y="101975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0320AF9-85AA-4480-8E14-7FE0ADB5DC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7421" y="101111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EF8A665-2287-7A5A-2417-104AA11E9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Example: Normal / Spam mail Classification</a:t>
            </a:r>
            <a:br>
              <a:rPr lang="en-GB" dirty="0">
                <a:solidFill>
                  <a:srgbClr val="FF0000"/>
                </a:solidFill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7762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FA7102-82C6-40D1-ACD0-1A3AB7B59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945" y="880859"/>
            <a:ext cx="9163050" cy="50768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FB4B0CC-2D2C-4907-9DC2-C3C5555FFE9A}"/>
              </a:ext>
            </a:extLst>
          </p:cNvPr>
          <p:cNvSpPr txBox="1">
            <a:spLocks/>
          </p:cNvSpPr>
          <p:nvPr/>
        </p:nvSpPr>
        <p:spPr>
          <a:xfrm>
            <a:off x="330200" y="111363"/>
            <a:ext cx="10515600" cy="4683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rgbClr val="FF0000"/>
                </a:solidFill>
              </a:rPr>
              <a:t>Example: Normal / Spam mail Classification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4D4C05-ACCD-44BE-95B6-FF24E5B1F439}"/>
              </a:ext>
            </a:extLst>
          </p:cNvPr>
          <p:cNvSpPr/>
          <p:nvPr/>
        </p:nvSpPr>
        <p:spPr>
          <a:xfrm>
            <a:off x="581477" y="6310079"/>
            <a:ext cx="40041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S</a:t>
            </a:r>
            <a:r>
              <a:rPr lang="en-GB" dirty="0" err="1"/>
              <a:t>lides</a:t>
            </a:r>
            <a:r>
              <a:rPr lang="en-GB" dirty="0"/>
              <a:t> taken from Josh </a:t>
            </a:r>
            <a:r>
              <a:rPr lang="en-GB" dirty="0" err="1"/>
              <a:t>Starmer</a:t>
            </a:r>
            <a:r>
              <a:rPr lang="en-GB" dirty="0"/>
              <a:t>, </a:t>
            </a:r>
            <a:r>
              <a:rPr lang="en-GB" dirty="0" err="1"/>
              <a:t>statquest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E2E57B0-FEF9-4E0C-A65A-53C645B8017B}"/>
                  </a:ext>
                </a:extLst>
              </p14:cNvPr>
              <p14:cNvContentPartPr/>
              <p14:nvPr/>
            </p14:nvContentPartPr>
            <p14:xfrm>
              <a:off x="6135021" y="598955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E2E57B0-FEF9-4E0C-A65A-53C645B801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17381" y="5881550"/>
                <a:ext cx="36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059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5B3D0B-9607-4525-B76B-AC48BCC0F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12" y="952830"/>
            <a:ext cx="9652010" cy="495234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F3C7810-A7A8-4D2C-8916-893ACC116FE0}"/>
              </a:ext>
            </a:extLst>
          </p:cNvPr>
          <p:cNvSpPr txBox="1">
            <a:spLocks/>
          </p:cNvSpPr>
          <p:nvPr/>
        </p:nvSpPr>
        <p:spPr>
          <a:xfrm>
            <a:off x="330200" y="111363"/>
            <a:ext cx="10515600" cy="4683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rgbClr val="FF0000"/>
                </a:solidFill>
              </a:rPr>
              <a:t>Example: Normal / Spam mail Classification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BF766B-4E45-4CB6-A171-1561DD0FEB68}"/>
              </a:ext>
            </a:extLst>
          </p:cNvPr>
          <p:cNvSpPr/>
          <p:nvPr/>
        </p:nvSpPr>
        <p:spPr>
          <a:xfrm>
            <a:off x="581477" y="6310079"/>
            <a:ext cx="40041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S</a:t>
            </a:r>
            <a:r>
              <a:rPr lang="en-GB" dirty="0" err="1"/>
              <a:t>lides</a:t>
            </a:r>
            <a:r>
              <a:rPr lang="en-GB" dirty="0"/>
              <a:t> taken from Josh </a:t>
            </a:r>
            <a:r>
              <a:rPr lang="en-GB" dirty="0" err="1"/>
              <a:t>Starmer</a:t>
            </a:r>
            <a:r>
              <a:rPr lang="en-GB" dirty="0"/>
              <a:t>, </a:t>
            </a:r>
            <a:r>
              <a:rPr lang="en-GB" dirty="0" err="1"/>
              <a:t>statquest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0528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49250" indent="-295275" algn="just"/>
                <a:r>
                  <a:rPr lang="en-US" sz="2000" dirty="0"/>
                  <a:t>Suppose, c is a class variable and </a:t>
                </a:r>
                <a:r>
                  <a:rPr lang="en-US" sz="2000" i="1" dirty="0"/>
                  <a:t>X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000" i="1" baseline="-250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,…..,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is a set of attributes,       with instance of </a:t>
                </a:r>
                <a:r>
                  <a:rPr lang="en-US" sz="2000" i="1" dirty="0"/>
                  <a:t>c</a:t>
                </a:r>
                <a:r>
                  <a:rPr lang="en-US" sz="2000" dirty="0"/>
                  <a:t>.</a:t>
                </a:r>
              </a:p>
              <a:p>
                <a:pPr marL="349250" indent="-295275" algn="just"/>
                <a:r>
                  <a:rPr lang="en-US" sz="2000" dirty="0"/>
                  <a:t>Naïve Bayesian classifier calculate this posterior probability using Bayes’ theorem</a:t>
                </a:r>
                <a:endParaRPr lang="en-US" sz="800" dirty="0"/>
              </a:p>
              <a:p>
                <a:pPr marL="2248535" lvl="8" indent="0">
                  <a:buNone/>
                </a:pPr>
                <a:endParaRPr lang="en-US" sz="800" dirty="0">
                  <a:solidFill>
                    <a:srgbClr val="0B5ED7"/>
                  </a:solidFill>
                  <a:ea typeface="Cambria Math" panose="02040503050406030204" pitchFamily="18" charset="0"/>
                </a:endParaRPr>
              </a:p>
              <a:p>
                <a:pPr marL="53975" indent="0">
                  <a:buNone/>
                </a:pPr>
                <a:endParaRPr lang="en-US" sz="2000" i="1" dirty="0">
                  <a:solidFill>
                    <a:srgbClr val="A5002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91" r="-5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Naïve Bayesian Classifier</a:t>
            </a:r>
            <a:endParaRPr lang="en-IN" sz="4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7</a:t>
            </a:fld>
            <a:endParaRPr lang="en-IN" dirty="0">
              <a:solidFill>
                <a:srgbClr val="04617B">
                  <a:shade val="90000"/>
                </a:srgbClr>
              </a:solidFill>
            </a:endParaRPr>
          </a:p>
        </p:txBody>
      </p:sp>
      <p:pic>
        <p:nvPicPr>
          <p:cNvPr id="7" name="Picture 6" descr="naive bayes, bayes theorem">
            <a:hlinkClick r:id="rId3"/>
            <a:extLst>
              <a:ext uri="{FF2B5EF4-FFF2-40B4-BE49-F238E27FC236}">
                <a16:creationId xmlns:a16="http://schemas.microsoft.com/office/drawing/2014/main" id="{C67A24C0-703C-4D24-A344-2AFEF8EB0AC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7001" y="2263402"/>
            <a:ext cx="4685684" cy="214410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A31D550-8FF0-4198-8628-4FC4AF3B6321}"/>
                  </a:ext>
                </a:extLst>
              </p:cNvPr>
              <p:cNvSpPr/>
              <p:nvPr/>
            </p:nvSpPr>
            <p:spPr>
              <a:xfrm>
                <a:off x="2021840" y="4407510"/>
                <a:ext cx="8889999" cy="13696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96875" indent="-342900">
                  <a:buFont typeface="Wingdings" pitchFamily="2" charset="2"/>
                  <a:buChar char="§"/>
                </a:pPr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The probability </a:t>
                </a:r>
                <a:r>
                  <a:rPr lang="en-US" i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P(</a:t>
                </a:r>
                <a:r>
                  <a:rPr lang="en-US" i="1" dirty="0" err="1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c|X</a:t>
                </a:r>
                <a:r>
                  <a:rPr lang="en-US" i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)</a:t>
                </a:r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(also called class conditional probability) is therefore </a:t>
                </a:r>
              </a:p>
              <a:p>
                <a:pPr marL="53975" indent="0">
                  <a:buNone/>
                </a:pPr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      proportional to </a:t>
                </a:r>
                <a:r>
                  <a:rPr lang="en-US" i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P(</a:t>
                </a:r>
                <a:r>
                  <a:rPr lang="en-US" i="1" dirty="0" err="1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X|c</a:t>
                </a:r>
                <a:r>
                  <a:rPr lang="en-US" i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. </a:t>
                </a:r>
              </a:p>
              <a:p>
                <a:pPr marL="53975" indent="0">
                  <a:buNone/>
                </a:pPr>
                <a:r>
                  <a:rPr lang="en-US" sz="11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		</a:t>
                </a:r>
              </a:p>
              <a:p>
                <a:pPr marL="396875" indent="-342900">
                  <a:buFont typeface="Wingdings" pitchFamily="2" charset="2"/>
                  <a:buChar char="§"/>
                </a:pPr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Thus, </a:t>
                </a:r>
                <a:r>
                  <a:rPr lang="en-US" i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P(</a:t>
                </a:r>
                <a:r>
                  <a:rPr lang="en-US" i="1" dirty="0" err="1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c|X</a:t>
                </a:r>
                <a:r>
                  <a:rPr lang="en-US" i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)</a:t>
                </a:r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can be taken as a measure of </a:t>
                </a:r>
                <a:r>
                  <a:rPr lang="en-US" i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c</a:t>
                </a:r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 given that </a:t>
                </a:r>
                <a:r>
                  <a:rPr lang="en-US" i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X</a:t>
                </a:r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.</a:t>
                </a:r>
              </a:p>
              <a:p>
                <a:pPr marL="53975" indent="0" algn="ctr">
                  <a:buNone/>
                </a:pPr>
                <a:r>
                  <a:rPr lang="en-US" i="1" dirty="0">
                    <a:solidFill>
                      <a:srgbClr val="A5002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P(</a:t>
                </a:r>
                <a:r>
                  <a:rPr lang="en-US" i="1" dirty="0" err="1">
                    <a:solidFill>
                      <a:srgbClr val="A5002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c|X</a:t>
                </a:r>
                <a:r>
                  <a:rPr lang="en-US" i="1" dirty="0">
                    <a:solidFill>
                      <a:srgbClr val="A5002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A5002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solidFill>
                          <a:srgbClr val="A5002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A5002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A5002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IN" b="0" i="1" smtClean="0">
                            <a:solidFill>
                              <a:srgbClr val="A5002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i="1">
                        <a:solidFill>
                          <a:srgbClr val="A5002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solidFill>
                          <a:srgbClr val="A5002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solidFill>
                          <a:srgbClr val="A5002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solidFill>
                          <a:srgbClr val="A5002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solidFill>
                          <a:srgbClr val="A5002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A31D550-8FF0-4198-8628-4FC4AF3B63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840" y="4407510"/>
                <a:ext cx="8889999" cy="1369606"/>
              </a:xfrm>
              <a:prstGeom prst="rect">
                <a:avLst/>
              </a:prstGeom>
              <a:blipFill>
                <a:blip r:embed="rId7"/>
                <a:stretch>
                  <a:fillRect t="-2222" b="-5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7554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59ACD2-71BB-482D-935F-6B05ACDCE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1925"/>
            <a:ext cx="10284737" cy="595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41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61FC2-ED3D-4552-A0DB-1DB6A2DF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Prediction on test data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99638E-4CC7-41F0-AE2C-5D571DB99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1791335"/>
            <a:ext cx="88773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50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975" indent="0">
              <a:buNone/>
            </a:pPr>
            <a:endParaRPr lang="en-US" sz="2000" dirty="0">
              <a:ea typeface="Cambria Math" panose="02040503050406030204" pitchFamily="18" charset="0"/>
            </a:endParaRPr>
          </a:p>
          <a:p>
            <a:pPr marL="53975" indent="0">
              <a:buNone/>
            </a:pPr>
            <a:endParaRPr lang="en-US" sz="2000" dirty="0">
              <a:ea typeface="Cambria Math" panose="02040503050406030204" pitchFamily="18" charset="0"/>
            </a:endParaRPr>
          </a:p>
          <a:p>
            <a:pPr marL="53975" indent="0">
              <a:buNone/>
            </a:pPr>
            <a:endParaRPr lang="en-US" sz="2000" dirty="0">
              <a:ea typeface="Cambria Math" panose="02040503050406030204" pitchFamily="18" charset="0"/>
            </a:endParaRPr>
          </a:p>
          <a:p>
            <a:pPr marL="53975" indent="0">
              <a:buNone/>
            </a:pPr>
            <a:endParaRPr lang="en-US" sz="2000" dirty="0">
              <a:ea typeface="Cambria Math" panose="02040503050406030204" pitchFamily="18" charset="0"/>
            </a:endParaRPr>
          </a:p>
          <a:p>
            <a:pPr marL="53975" indent="0">
              <a:buNone/>
            </a:pPr>
            <a:endParaRPr lang="en-US" sz="2000" dirty="0">
              <a:ea typeface="Cambria Math" panose="02040503050406030204" pitchFamily="18" charset="0"/>
            </a:endParaRPr>
          </a:p>
          <a:p>
            <a:pPr marL="53975" indent="0">
              <a:buNone/>
            </a:pPr>
            <a:endParaRPr lang="en-US" sz="2000" dirty="0">
              <a:ea typeface="Cambria Math" panose="02040503050406030204" pitchFamily="18" charset="0"/>
            </a:endParaRPr>
          </a:p>
          <a:p>
            <a:pPr marL="53975" indent="0">
              <a:buNone/>
            </a:pPr>
            <a:endParaRPr lang="en-US" sz="2000" dirty="0">
              <a:ea typeface="Cambria Math" panose="02040503050406030204" pitchFamily="18" charset="0"/>
            </a:endParaRPr>
          </a:p>
          <a:p>
            <a:pPr marL="53975" indent="0">
              <a:buNone/>
            </a:pPr>
            <a:endParaRPr lang="en-US" sz="2000" dirty="0">
              <a:ea typeface="Cambria Math" panose="02040503050406030204" pitchFamily="18" charset="0"/>
            </a:endParaRPr>
          </a:p>
          <a:p>
            <a:pPr marL="53975" indent="0">
              <a:buNone/>
            </a:pPr>
            <a:endParaRPr lang="en-US" sz="2000" dirty="0">
              <a:ea typeface="Cambria Math" panose="02040503050406030204" pitchFamily="18" charset="0"/>
            </a:endParaRPr>
          </a:p>
          <a:p>
            <a:pPr marL="53975" indent="0">
              <a:buNone/>
            </a:pPr>
            <a:endParaRPr lang="en-US" sz="2000" dirty="0">
              <a:ea typeface="Cambria Math" panose="02040503050406030204" pitchFamily="18" charset="0"/>
            </a:endParaRPr>
          </a:p>
          <a:p>
            <a:pPr marL="53975" indent="0">
              <a:buNone/>
            </a:pPr>
            <a:endParaRPr lang="en-US" sz="2000" dirty="0">
              <a:ea typeface="Cambria Math" panose="02040503050406030204" pitchFamily="18" charset="0"/>
            </a:endParaRPr>
          </a:p>
          <a:p>
            <a:pPr marL="53975" indent="0">
              <a:buNone/>
            </a:pPr>
            <a:endParaRPr lang="en-US" sz="2000" b="1" dirty="0">
              <a:ea typeface="Cambria Math" panose="02040503050406030204" pitchFamily="18" charset="0"/>
            </a:endParaRPr>
          </a:p>
          <a:p>
            <a:pPr marL="53975" indent="0">
              <a:buNone/>
            </a:pPr>
            <a:endParaRPr lang="en-US" sz="2000" b="1" dirty="0">
              <a:ea typeface="Cambria Math" panose="02040503050406030204" pitchFamily="18" charset="0"/>
            </a:endParaRPr>
          </a:p>
          <a:p>
            <a:pPr marL="53975" indent="0">
              <a:buNone/>
            </a:pPr>
            <a:endParaRPr lang="en-US" sz="2000" b="1" dirty="0">
              <a:ea typeface="Cambria Math" panose="02040503050406030204" pitchFamily="18" charset="0"/>
            </a:endParaRPr>
          </a:p>
          <a:p>
            <a:pPr marL="53975" indent="0">
              <a:buNone/>
            </a:pPr>
            <a:endParaRPr lang="en-US" sz="2000" b="1" dirty="0">
              <a:ea typeface="Cambria Math" panose="02040503050406030204" pitchFamily="18" charset="0"/>
            </a:endParaRPr>
          </a:p>
          <a:p>
            <a:pPr marL="53975" indent="0">
              <a:buNone/>
            </a:pPr>
            <a:endParaRPr lang="en-US" sz="2000" b="1" dirty="0">
              <a:ea typeface="Cambria Math" panose="02040503050406030204" pitchFamily="18" charset="0"/>
            </a:endParaRPr>
          </a:p>
          <a:p>
            <a:pPr marL="53975" indent="0">
              <a:buNone/>
            </a:pPr>
            <a:endParaRPr lang="en-US" sz="2000" b="1" dirty="0">
              <a:ea typeface="Cambria Math" panose="02040503050406030204" pitchFamily="18" charset="0"/>
            </a:endParaRPr>
          </a:p>
          <a:p>
            <a:pPr marL="53975" indent="0">
              <a:buNone/>
            </a:pPr>
            <a:endParaRPr lang="en-US" sz="1300" b="1" dirty="0">
              <a:ea typeface="Cambria Math" panose="02040503050406030204" pitchFamily="18" charset="0"/>
            </a:endParaRPr>
          </a:p>
          <a:p>
            <a:pPr marL="53975" indent="0">
              <a:buNone/>
            </a:pPr>
            <a:endParaRPr lang="en-US" b="1" dirty="0">
              <a:solidFill>
                <a:srgbClr val="0B5ED7"/>
              </a:solidFill>
              <a:ea typeface="Cambria Math" panose="02040503050406030204" pitchFamily="18" charset="0"/>
            </a:endParaRPr>
          </a:p>
          <a:p>
            <a:pPr marL="53975" indent="0">
              <a:buNone/>
            </a:pPr>
            <a:endParaRPr lang="en-US" sz="1400" b="1" dirty="0">
              <a:solidFill>
                <a:srgbClr val="0B5ED7"/>
              </a:solidFill>
              <a:ea typeface="Cambria Math" panose="02040503050406030204" pitchFamily="18" charset="0"/>
            </a:endParaRPr>
          </a:p>
          <a:p>
            <a:pPr marL="53975" indent="0">
              <a:buNone/>
            </a:pPr>
            <a:endParaRPr lang="en-US" dirty="0">
              <a:solidFill>
                <a:srgbClr val="0B5ED7"/>
              </a:solidFill>
              <a:ea typeface="Cambria Math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Naïve Bayesian Classifier Algorithm</a:t>
            </a:r>
            <a:endParaRPr lang="en-IN" sz="4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10</a:t>
            </a:fld>
            <a:endParaRPr lang="en-IN" dirty="0">
              <a:solidFill>
                <a:srgbClr val="04617B">
                  <a:shade val="90000"/>
                </a:srgb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239907" y="1463040"/>
                <a:ext cx="7734300" cy="4053840"/>
              </a:xfrm>
              <a:prstGeom prst="rect">
                <a:avLst/>
              </a:prstGeom>
              <a:gradFill flip="none" rotWithShape="1">
                <a:gsLst>
                  <a:gs pos="0">
                    <a:srgbClr val="8488C4"/>
                  </a:gs>
                  <a:gs pos="53000">
                    <a:srgbClr val="D4DEFF"/>
                  </a:gs>
                  <a:gs pos="83000">
                    <a:srgbClr val="D4DEFF"/>
                  </a:gs>
                  <a:gs pos="100000">
                    <a:srgbClr val="96AB94"/>
                  </a:gs>
                </a:gsLst>
                <a:lin ang="5400000" scaled="0"/>
                <a:tileRect/>
              </a:gradFill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en-US" b="1" dirty="0">
                  <a:solidFill>
                    <a:prstClr val="black"/>
                  </a:solidFill>
                </a:endParaRPr>
              </a:p>
              <a:p>
                <a:pPr algn="just"/>
                <a:r>
                  <a:rPr lang="en-US" b="1" dirty="0">
                    <a:solidFill>
                      <a:prstClr val="black"/>
                    </a:solidFill>
                  </a:rPr>
                  <a:t>Input</a:t>
                </a:r>
                <a:r>
                  <a:rPr lang="en-US" dirty="0">
                    <a:solidFill>
                      <a:prstClr val="black"/>
                    </a:solidFill>
                  </a:rPr>
                  <a:t>:   Given a set of </a:t>
                </a:r>
                <a:r>
                  <a:rPr lang="en-US" i="1" dirty="0">
                    <a:solidFill>
                      <a:prstClr val="black"/>
                    </a:solidFill>
                  </a:rPr>
                  <a:t>k</a:t>
                </a:r>
                <a:r>
                  <a:rPr lang="en-US" dirty="0">
                    <a:solidFill>
                      <a:prstClr val="black"/>
                    </a:solidFill>
                  </a:rPr>
                  <a:t> mutually exclusive and exhaustive classes </a:t>
                </a:r>
                <a:r>
                  <a:rPr lang="en-IN" i="1" dirty="0">
                    <a:solidFill>
                      <a:schemeClr val="tx1"/>
                    </a:solidFill>
                  </a:rPr>
                  <a:t>C</a:t>
                </a:r>
                <a:r>
                  <a:rPr lang="en-IN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,…..,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, which have prior probabilities </a:t>
                </a:r>
                <a:r>
                  <a:rPr lang="en-IN" i="1" dirty="0">
                    <a:solidFill>
                      <a:schemeClr val="tx1"/>
                    </a:solidFill>
                  </a:rPr>
                  <a:t>P(C</a:t>
                </a:r>
                <a:r>
                  <a:rPr lang="en-IN" i="1" baseline="-25000" dirty="0">
                    <a:solidFill>
                      <a:schemeClr val="tx1"/>
                    </a:solidFill>
                  </a:rPr>
                  <a:t>1</a:t>
                </a:r>
                <a:r>
                  <a:rPr lang="en-IN" i="1" dirty="0">
                    <a:solidFill>
                      <a:schemeClr val="tx1"/>
                    </a:solidFill>
                  </a:rPr>
                  <a:t>), P(C</a:t>
                </a:r>
                <a:r>
                  <a:rPr lang="en-IN" i="1" baseline="-25000" dirty="0">
                    <a:solidFill>
                      <a:schemeClr val="tx1"/>
                    </a:solidFill>
                  </a:rPr>
                  <a:t>2</a:t>
                </a:r>
                <a:r>
                  <a:rPr lang="en-IN" i="1" dirty="0">
                    <a:solidFill>
                      <a:schemeClr val="tx1"/>
                    </a:solidFill>
                  </a:rPr>
                  <a:t>),….. P(</a:t>
                </a:r>
                <a:r>
                  <a:rPr lang="en-IN" i="1" dirty="0" err="1">
                    <a:solidFill>
                      <a:schemeClr val="tx1"/>
                    </a:solidFill>
                  </a:rPr>
                  <a:t>C</a:t>
                </a:r>
                <a:r>
                  <a:rPr lang="en-IN" i="1" baseline="-25000" dirty="0" err="1">
                    <a:solidFill>
                      <a:schemeClr val="tx1"/>
                    </a:solidFill>
                  </a:rPr>
                  <a:t>k</a:t>
                </a:r>
                <a:r>
                  <a:rPr lang="en-IN" i="1" dirty="0">
                    <a:solidFill>
                      <a:schemeClr val="tx1"/>
                    </a:solidFill>
                  </a:rPr>
                  <a:t>)</a:t>
                </a:r>
                <a:r>
                  <a:rPr lang="en-IN" dirty="0">
                    <a:solidFill>
                      <a:schemeClr val="tx1"/>
                    </a:solidFill>
                  </a:rPr>
                  <a:t>.</a:t>
                </a:r>
              </a:p>
              <a:p>
                <a:pPr algn="just"/>
                <a:endParaRPr lang="en-IN" dirty="0">
                  <a:solidFill>
                    <a:schemeClr val="tx1"/>
                  </a:solidFill>
                </a:endParaRPr>
              </a:p>
              <a:p>
                <a:pPr algn="just"/>
                <a:r>
                  <a:rPr lang="en-IN" dirty="0">
                    <a:solidFill>
                      <a:schemeClr val="tx1"/>
                    </a:solidFill>
                  </a:rPr>
                  <a:t>There are </a:t>
                </a:r>
                <a:r>
                  <a:rPr lang="en-IN" i="1" dirty="0">
                    <a:solidFill>
                      <a:schemeClr val="tx1"/>
                    </a:solidFill>
                  </a:rPr>
                  <a:t>n</a:t>
                </a:r>
                <a:r>
                  <a:rPr lang="en-IN" dirty="0">
                    <a:solidFill>
                      <a:schemeClr val="tx1"/>
                    </a:solidFill>
                  </a:rPr>
                  <a:t>-attribute set </a:t>
                </a:r>
                <a:r>
                  <a:rPr lang="en-IN" i="1" dirty="0">
                    <a:solidFill>
                      <a:schemeClr val="tx1"/>
                    </a:solidFill>
                  </a:rPr>
                  <a:t>A</a:t>
                </a:r>
                <a:r>
                  <a:rPr lang="en-IN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,…..,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which for a given instance have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,</a:t>
                </a:r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,…..,</a:t>
                </a:r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>
                  <a:solidFill>
                    <a:prstClr val="black"/>
                  </a:solidFill>
                </a:endParaRPr>
              </a:p>
              <a:p>
                <a:pPr algn="just"/>
                <a:endParaRPr lang="en-IN" dirty="0">
                  <a:solidFill>
                    <a:schemeClr val="tx1"/>
                  </a:solidFill>
                </a:endParaRPr>
              </a:p>
              <a:p>
                <a:pPr algn="just"/>
                <a:r>
                  <a:rPr lang="en-IN" b="1" dirty="0">
                    <a:solidFill>
                      <a:schemeClr val="tx1"/>
                    </a:solidFill>
                  </a:rPr>
                  <a:t>Step</a:t>
                </a:r>
                <a:r>
                  <a:rPr lang="en-IN" dirty="0">
                    <a:solidFill>
                      <a:schemeClr val="tx1"/>
                    </a:solidFill>
                  </a:rPr>
                  <a:t>:  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, calculate the class condition probabilities, </a:t>
                </a:r>
                <a:r>
                  <a:rPr lang="en-IN" i="1" dirty="0" err="1">
                    <a:solidFill>
                      <a:schemeClr val="tx1"/>
                    </a:solidFill>
                  </a:rPr>
                  <a:t>i</a:t>
                </a:r>
                <a:r>
                  <a:rPr lang="en-IN" dirty="0">
                    <a:solidFill>
                      <a:schemeClr val="tx1"/>
                    </a:solidFill>
                  </a:rPr>
                  <a:t> = 1,2,…..,</a:t>
                </a:r>
                <a:r>
                  <a:rPr lang="en-IN" i="1" dirty="0">
                    <a:solidFill>
                      <a:schemeClr val="tx1"/>
                    </a:solidFill>
                  </a:rPr>
                  <a:t>k</a:t>
                </a:r>
              </a:p>
              <a:p>
                <a:pPr algn="ctr"/>
                <a:r>
                  <a:rPr lang="en-IN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US" dirty="0">
                        <a:solidFill>
                          <a:schemeClr val="tx1"/>
                        </a:solidFill>
                        <a:ea typeface="Cambria Math" panose="02040503050406030204" pitchFamily="18" charset="0"/>
                      </a:rPr>
                      <m:t>×</m:t>
                    </m:r>
                    <m:nary>
                      <m:naryPr>
                        <m:chr m:val="∏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US" sz="10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,…..,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IN" b="1" dirty="0">
                  <a:solidFill>
                    <a:schemeClr val="tx1"/>
                  </a:solidFill>
                </a:endParaRPr>
              </a:p>
              <a:p>
                <a:r>
                  <a:rPr lang="en-IN" b="1" dirty="0">
                    <a:solidFill>
                      <a:schemeClr val="tx1"/>
                    </a:solidFill>
                  </a:rPr>
                  <a:t>Output</a:t>
                </a:r>
                <a:r>
                  <a:rPr lang="en-IN" dirty="0">
                    <a:solidFill>
                      <a:schemeClr val="tx1"/>
                    </a:solidFill>
                  </a:rPr>
                  <a:t>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is the classification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907" y="1463040"/>
                <a:ext cx="7734300" cy="40538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4799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FF0000"/>
                </a:solidFill>
              </a:rPr>
              <a:t>Pros</a:t>
            </a:r>
          </a:p>
          <a:p>
            <a:r>
              <a:rPr lang="en-GB" sz="2400" dirty="0"/>
              <a:t>simple and easy to implement</a:t>
            </a:r>
          </a:p>
          <a:p>
            <a:r>
              <a:rPr lang="en-GB" sz="2400" dirty="0"/>
              <a:t>doesn’t require as much training data</a:t>
            </a:r>
          </a:p>
          <a:p>
            <a:r>
              <a:rPr lang="en-GB" sz="2400" dirty="0"/>
              <a:t>handles both continuous and discrete data</a:t>
            </a:r>
          </a:p>
          <a:p>
            <a:r>
              <a:rPr lang="en-GB" sz="2400" dirty="0"/>
              <a:t>fast and can be used to make real-time predictions</a:t>
            </a:r>
          </a:p>
          <a:p>
            <a:r>
              <a:rPr lang="en-GB" sz="2400" dirty="0"/>
              <a:t>not sensitive to irrelevant features 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FF0000"/>
                </a:solidFill>
              </a:rPr>
              <a:t>Cons</a:t>
            </a:r>
          </a:p>
          <a:p>
            <a:pPr marL="762635" lvl="1" indent="-342900"/>
            <a:r>
              <a:rPr lang="en-GB" dirty="0"/>
              <a:t>assumption of independent predictors</a:t>
            </a:r>
          </a:p>
          <a:p>
            <a:pPr marL="762635" lvl="1" indent="-342900"/>
            <a:r>
              <a:rPr lang="en-GB" dirty="0"/>
              <a:t>zero frequency problem</a:t>
            </a:r>
            <a:endParaRPr lang="en-US" dirty="0">
              <a:ea typeface="Cambria Math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Naïve Bayesian Classifier Pros and Cons</a:t>
            </a:r>
            <a:endParaRPr lang="en-IN" sz="4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11</a:t>
            </a:fld>
            <a:endParaRPr lang="en-IN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930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08F95-5AEF-4FA9-9BBB-AE2C5DA18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Naive Bayes is a probabilistic supervised learning algorithm</a:t>
            </a:r>
          </a:p>
          <a:p>
            <a:r>
              <a:rPr lang="en-US" dirty="0"/>
              <a:t>Based on the independence assumption . Called “</a:t>
            </a:r>
            <a:r>
              <a:rPr lang="en-GB" dirty="0"/>
              <a:t>Naïve”  because of this assumption</a:t>
            </a:r>
          </a:p>
          <a:p>
            <a:r>
              <a:rPr lang="en-GB" dirty="0"/>
              <a:t>Uses  prior knowledge with observed data</a:t>
            </a:r>
          </a:p>
          <a:p>
            <a:r>
              <a:rPr lang="en-US" dirty="0"/>
              <a:t>Training and testing is very easy and fast</a:t>
            </a:r>
          </a:p>
          <a:p>
            <a:r>
              <a:rPr lang="en-US" altLang="en-US" dirty="0"/>
              <a:t>Generative classifier model</a:t>
            </a:r>
            <a:endParaRPr lang="en-GB" dirty="0"/>
          </a:p>
          <a:p>
            <a:endParaRPr lang="en-US" altLang="en-US" dirty="0"/>
          </a:p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08B37-8E7D-4F55-AE6E-A770828E2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Summary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126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Reference</a:t>
            </a:r>
            <a:endParaRPr lang="en-IN" sz="4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13</a:t>
            </a:fld>
            <a:endParaRPr lang="en-IN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Content Placeholder 4"/>
          <p:cNvSpPr txBox="1">
            <a:spLocks/>
          </p:cNvSpPr>
          <p:nvPr/>
        </p:nvSpPr>
        <p:spPr>
          <a:xfrm>
            <a:off x="1626036" y="2928512"/>
            <a:ext cx="8506500" cy="2227148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BD0D9"/>
              </a:buClr>
              <a:buNone/>
            </a:pPr>
            <a:endParaRPr lang="en-US" dirty="0">
              <a:solidFill>
                <a:prstClr val="black"/>
              </a:solidFill>
            </a:endParaRPr>
          </a:p>
          <a:p>
            <a:pPr marL="393192" lvl="1" indent="0">
              <a:buClr>
                <a:srgbClr val="0BD0D9"/>
              </a:buClr>
              <a:buNone/>
            </a:pPr>
            <a:r>
              <a:rPr lang="en-IN" dirty="0">
                <a:solidFill>
                  <a:srgbClr val="073C8B"/>
                </a:solidFill>
              </a:rPr>
              <a:t>Data Mining: Concepts and Techniques, (3</a:t>
            </a:r>
            <a:r>
              <a:rPr lang="en-IN" baseline="30000" dirty="0">
                <a:solidFill>
                  <a:srgbClr val="073C8B"/>
                </a:solidFill>
              </a:rPr>
              <a:t>rd</a:t>
            </a:r>
            <a:r>
              <a:rPr lang="en-IN" dirty="0">
                <a:solidFill>
                  <a:srgbClr val="073C8B"/>
                </a:solidFill>
              </a:rPr>
              <a:t> </a:t>
            </a:r>
            <a:r>
              <a:rPr lang="en-IN" dirty="0" err="1">
                <a:solidFill>
                  <a:srgbClr val="073C8B"/>
                </a:solidFill>
              </a:rPr>
              <a:t>Edn</a:t>
            </a:r>
            <a:r>
              <a:rPr lang="en-IN" dirty="0">
                <a:solidFill>
                  <a:srgbClr val="073C8B"/>
                </a:solidFill>
              </a:rPr>
              <a:t>.), </a:t>
            </a:r>
            <a:r>
              <a:rPr lang="en-IN" dirty="0" err="1">
                <a:solidFill>
                  <a:srgbClr val="073C8B"/>
                </a:solidFill>
              </a:rPr>
              <a:t>Jiawei</a:t>
            </a:r>
            <a:r>
              <a:rPr lang="en-IN" dirty="0">
                <a:solidFill>
                  <a:srgbClr val="073C8B"/>
                </a:solidFill>
              </a:rPr>
              <a:t> Han, </a:t>
            </a:r>
            <a:r>
              <a:rPr lang="en-IN" dirty="0" err="1">
                <a:solidFill>
                  <a:srgbClr val="073C8B"/>
                </a:solidFill>
              </a:rPr>
              <a:t>Micheline</a:t>
            </a:r>
            <a:r>
              <a:rPr lang="en-IN" dirty="0">
                <a:solidFill>
                  <a:srgbClr val="073C8B"/>
                </a:solidFill>
              </a:rPr>
              <a:t> </a:t>
            </a:r>
            <a:r>
              <a:rPr lang="en-IN" dirty="0" err="1">
                <a:solidFill>
                  <a:srgbClr val="073C8B"/>
                </a:solidFill>
              </a:rPr>
              <a:t>Kamber</a:t>
            </a:r>
            <a:r>
              <a:rPr lang="en-IN" dirty="0">
                <a:solidFill>
                  <a:srgbClr val="073C8B"/>
                </a:solidFill>
              </a:rPr>
              <a:t>, </a:t>
            </a:r>
            <a:r>
              <a:rPr lang="en-IN" dirty="0"/>
              <a:t>Morgan Kaufmann</a:t>
            </a:r>
            <a:r>
              <a:rPr lang="en-IN" dirty="0">
                <a:solidFill>
                  <a:srgbClr val="073C8B"/>
                </a:solidFill>
              </a:rPr>
              <a:t>, 2015.</a:t>
            </a:r>
          </a:p>
          <a:p>
            <a:pPr marL="393192" lvl="1" indent="0">
              <a:buClr>
                <a:srgbClr val="0BD0D9"/>
              </a:buClr>
              <a:buNone/>
            </a:pPr>
            <a:endParaRPr lang="en-US" dirty="0">
              <a:solidFill>
                <a:srgbClr val="073C8B"/>
              </a:solidFill>
            </a:endParaRPr>
          </a:p>
          <a:p>
            <a:pPr marL="393192" lvl="1" indent="0">
              <a:buClr>
                <a:srgbClr val="0BD0D9"/>
              </a:buClr>
              <a:buNone/>
            </a:pPr>
            <a:r>
              <a:rPr lang="en-US" dirty="0">
                <a:solidFill>
                  <a:srgbClr val="073C8B"/>
                </a:solidFill>
              </a:rPr>
              <a:t>Introduction to Data Mining, Pang-</a:t>
            </a:r>
            <a:r>
              <a:rPr lang="en-US" dirty="0" err="1">
                <a:solidFill>
                  <a:srgbClr val="073C8B"/>
                </a:solidFill>
              </a:rPr>
              <a:t>Ning</a:t>
            </a:r>
            <a:r>
              <a:rPr lang="en-US" dirty="0">
                <a:solidFill>
                  <a:srgbClr val="073C8B"/>
                </a:solidFill>
              </a:rPr>
              <a:t> Tan,  Michael Steinbach, and </a:t>
            </a:r>
            <a:r>
              <a:rPr lang="en-US" dirty="0" err="1">
                <a:solidFill>
                  <a:srgbClr val="073C8B"/>
                </a:solidFill>
              </a:rPr>
              <a:t>Vipin</a:t>
            </a:r>
            <a:r>
              <a:rPr lang="en-US" dirty="0">
                <a:solidFill>
                  <a:srgbClr val="073C8B"/>
                </a:solidFill>
              </a:rPr>
              <a:t> Kumar,  Addison-Wesley, 2014</a:t>
            </a:r>
          </a:p>
          <a:p>
            <a:pPr marL="0" indent="0">
              <a:buClr>
                <a:srgbClr val="0BD0D9"/>
              </a:buClr>
              <a:buNone/>
            </a:pPr>
            <a:r>
              <a:rPr lang="en-US" dirty="0">
                <a:solidFill>
                  <a:prstClr val="black"/>
                </a:solidFill>
              </a:rPr>
              <a:t>	</a:t>
            </a:r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09370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488</Words>
  <Application>Microsoft Office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Cambria Math</vt:lpstr>
      <vt:lpstr>Georgia</vt:lpstr>
      <vt:lpstr>Tahoma</vt:lpstr>
      <vt:lpstr>Times New Roman</vt:lpstr>
      <vt:lpstr>Wingdings</vt:lpstr>
      <vt:lpstr>1_Office Theme</vt:lpstr>
      <vt:lpstr>PowerPoint Presentation</vt:lpstr>
      <vt:lpstr>Naïve Bayes Classifier </vt:lpstr>
      <vt:lpstr>Applications</vt:lpstr>
      <vt:lpstr>Example: Normal / Spam mail Classification </vt:lpstr>
      <vt:lpstr>PowerPoint Presentation</vt:lpstr>
      <vt:lpstr>PowerPoint Presentation</vt:lpstr>
      <vt:lpstr>Naïve Bayesian Classifier</vt:lpstr>
      <vt:lpstr>PowerPoint Presentation</vt:lpstr>
      <vt:lpstr>Prediction on test data</vt:lpstr>
      <vt:lpstr>Naïve Bayesian Classifier Algorithm</vt:lpstr>
      <vt:lpstr>Naïve Bayesian Classifier Pros and Cons</vt:lpstr>
      <vt:lpstr>Summary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saraths</dc:creator>
  <cp:lastModifiedBy>Govardhan satya Gadi</cp:lastModifiedBy>
  <cp:revision>70</cp:revision>
  <dcterms:created xsi:type="dcterms:W3CDTF">2024-04-16T05:05:28Z</dcterms:created>
  <dcterms:modified xsi:type="dcterms:W3CDTF">2025-09-10T11:00:44Z</dcterms:modified>
</cp:coreProperties>
</file>